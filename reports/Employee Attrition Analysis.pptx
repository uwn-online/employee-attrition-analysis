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B0FE78-C714-487E-8643-75235EF8BC3D}" v="21" dt="2026-02-19T09:41:56.293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 showGuides="1">
      <p:cViewPr varScale="1">
        <p:scale>
          <a:sx n="48" d="100"/>
          <a:sy n="48" d="100"/>
        </p:scale>
        <p:origin x="55" y="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gochukwu Ndu" userId="d34c77c4f93ddfff" providerId="LiveId" clId="{C7A29AC0-0302-4F85-AE67-3A94FDE40603}"/>
    <pc:docChg chg="undo custSel delSld modSld sldOrd">
      <pc:chgData name="Ugochukwu Ndu" userId="d34c77c4f93ddfff" providerId="LiveId" clId="{C7A29AC0-0302-4F85-AE67-3A94FDE40603}" dt="2026-02-19T09:44:58.556" v="838" actId="1076"/>
      <pc:docMkLst>
        <pc:docMk/>
      </pc:docMkLst>
      <pc:sldChg chg="modSp mod">
        <pc:chgData name="Ugochukwu Ndu" userId="d34c77c4f93ddfff" providerId="LiveId" clId="{C7A29AC0-0302-4F85-AE67-3A94FDE40603}" dt="2026-02-19T09:44:58.556" v="838" actId="1076"/>
        <pc:sldMkLst>
          <pc:docMk/>
          <pc:sldMk cId="226831390" sldId="257"/>
        </pc:sldMkLst>
        <pc:spChg chg="mod">
          <ac:chgData name="Ugochukwu Ndu" userId="d34c77c4f93ddfff" providerId="LiveId" clId="{C7A29AC0-0302-4F85-AE67-3A94FDE40603}" dt="2026-02-19T09:44:58.556" v="838" actId="1076"/>
          <ac:spMkLst>
            <pc:docMk/>
            <pc:sldMk cId="226831390" sldId="257"/>
            <ac:spMk id="10" creationId="{E26ECC50-7242-C3F4-AA4D-77430B774A41}"/>
          </ac:spMkLst>
        </pc:spChg>
      </pc:sldChg>
      <pc:sldChg chg="addSp modSp mod">
        <pc:chgData name="Ugochukwu Ndu" userId="d34c77c4f93ddfff" providerId="LiveId" clId="{C7A29AC0-0302-4F85-AE67-3A94FDE40603}" dt="2026-02-19T09:44:45.881" v="836" actId="1076"/>
        <pc:sldMkLst>
          <pc:docMk/>
          <pc:sldMk cId="715365788" sldId="258"/>
        </pc:sldMkLst>
        <pc:spChg chg="add mod">
          <ac:chgData name="Ugochukwu Ndu" userId="d34c77c4f93ddfff" providerId="LiveId" clId="{C7A29AC0-0302-4F85-AE67-3A94FDE40603}" dt="2026-02-19T09:43:54.451" v="833" actId="113"/>
          <ac:spMkLst>
            <pc:docMk/>
            <pc:sldMk cId="715365788" sldId="258"/>
            <ac:spMk id="4" creationId="{26503F88-59F7-9F80-D1BE-0D00D4D0614B}"/>
          </ac:spMkLst>
        </pc:spChg>
        <pc:spChg chg="mod">
          <ac:chgData name="Ugochukwu Ndu" userId="d34c77c4f93ddfff" providerId="LiveId" clId="{C7A29AC0-0302-4F85-AE67-3A94FDE40603}" dt="2026-02-19T09:44:45.881" v="836" actId="1076"/>
          <ac:spMkLst>
            <pc:docMk/>
            <pc:sldMk cId="715365788" sldId="258"/>
            <ac:spMk id="10" creationId="{67450812-99A3-3F90-CB79-EF972D8783E9}"/>
          </ac:spMkLst>
        </pc:spChg>
        <pc:picChg chg="mod">
          <ac:chgData name="Ugochukwu Ndu" userId="d34c77c4f93ddfff" providerId="LiveId" clId="{C7A29AC0-0302-4F85-AE67-3A94FDE40603}" dt="2026-02-19T09:42:11.516" v="823" actId="14100"/>
          <ac:picMkLst>
            <pc:docMk/>
            <pc:sldMk cId="715365788" sldId="258"/>
            <ac:picMk id="3" creationId="{2336D374-81CE-9204-2569-62BAA46B3E31}"/>
          </ac:picMkLst>
        </pc:picChg>
      </pc:sldChg>
      <pc:sldChg chg="addSp delSp modSp mod">
        <pc:chgData name="Ugochukwu Ndu" userId="d34c77c4f93ddfff" providerId="LiveId" clId="{C7A29AC0-0302-4F85-AE67-3A94FDE40603}" dt="2026-02-19T09:44:38.656" v="835" actId="1076"/>
        <pc:sldMkLst>
          <pc:docMk/>
          <pc:sldMk cId="400611536" sldId="259"/>
        </pc:sldMkLst>
        <pc:spChg chg="add del mod">
          <ac:chgData name="Ugochukwu Ndu" userId="d34c77c4f93ddfff" providerId="LiveId" clId="{C7A29AC0-0302-4F85-AE67-3A94FDE40603}" dt="2026-02-18T23:00:59.674" v="599"/>
          <ac:spMkLst>
            <pc:docMk/>
            <pc:sldMk cId="400611536" sldId="259"/>
            <ac:spMk id="3" creationId="{24999625-F0E9-2140-2A05-7B9D9367BCD7}"/>
          </ac:spMkLst>
        </pc:spChg>
        <pc:spChg chg="add mod">
          <ac:chgData name="Ugochukwu Ndu" userId="d34c77c4f93ddfff" providerId="LiveId" clId="{C7A29AC0-0302-4F85-AE67-3A94FDE40603}" dt="2026-02-18T23:06:22.552" v="815" actId="113"/>
          <ac:spMkLst>
            <pc:docMk/>
            <pc:sldMk cId="400611536" sldId="259"/>
            <ac:spMk id="4" creationId="{81F6B58D-A256-36F8-9E07-E3DC21DA2E7B}"/>
          </ac:spMkLst>
        </pc:spChg>
        <pc:spChg chg="mod">
          <ac:chgData name="Ugochukwu Ndu" userId="d34c77c4f93ddfff" providerId="LiveId" clId="{C7A29AC0-0302-4F85-AE67-3A94FDE40603}" dt="2026-02-19T09:44:38.656" v="835" actId="1076"/>
          <ac:spMkLst>
            <pc:docMk/>
            <pc:sldMk cId="400611536" sldId="259"/>
            <ac:spMk id="10" creationId="{FFEDA367-E13B-074D-26A6-B381FF64E397}"/>
          </ac:spMkLst>
        </pc:spChg>
        <pc:graphicFrameChg chg="add mod modGraphic">
          <ac:chgData name="Ugochukwu Ndu" userId="d34c77c4f93ddfff" providerId="LiveId" clId="{C7A29AC0-0302-4F85-AE67-3A94FDE40603}" dt="2026-02-18T23:04:47.176" v="809" actId="14734"/>
          <ac:graphicFrameMkLst>
            <pc:docMk/>
            <pc:sldMk cId="400611536" sldId="259"/>
            <ac:graphicFrameMk id="2" creationId="{7D8F0D56-4E70-5FE6-F992-AF4BA5A08FF9}"/>
          </ac:graphicFrameMkLst>
        </pc:graphicFrameChg>
      </pc:sldChg>
      <pc:sldChg chg="addSp modSp del mod ord">
        <pc:chgData name="Ugochukwu Ndu" userId="d34c77c4f93ddfff" providerId="LiveId" clId="{C7A29AC0-0302-4F85-AE67-3A94FDE40603}" dt="2026-02-18T23:06:45.849" v="816" actId="2696"/>
        <pc:sldMkLst>
          <pc:docMk/>
          <pc:sldMk cId="1291431061" sldId="260"/>
        </pc:sldMkLst>
        <pc:spChg chg="mod">
          <ac:chgData name="Ugochukwu Ndu" userId="d34c77c4f93ddfff" providerId="LiveId" clId="{C7A29AC0-0302-4F85-AE67-3A94FDE40603}" dt="2026-02-18T23:00:14.994" v="588" actId="14100"/>
          <ac:spMkLst>
            <pc:docMk/>
            <pc:sldMk cId="1291431061" sldId="260"/>
            <ac:spMk id="10" creationId="{922113BA-4318-419F-6DE9-347180DF774A}"/>
          </ac:spMkLst>
        </pc:spChg>
        <pc:picChg chg="add mod">
          <ac:chgData name="Ugochukwu Ndu" userId="d34c77c4f93ddfff" providerId="LiveId" clId="{C7A29AC0-0302-4F85-AE67-3A94FDE40603}" dt="2026-02-18T23:00:21.814" v="589" actId="1076"/>
          <ac:picMkLst>
            <pc:docMk/>
            <pc:sldMk cId="1291431061" sldId="260"/>
            <ac:picMk id="3" creationId="{B46D952F-F99A-74FE-F014-F0FC9F4C2B2C}"/>
          </ac:picMkLst>
        </pc:picChg>
      </pc:sldChg>
      <pc:sldChg chg="addSp modSp mod">
        <pc:chgData name="Ugochukwu Ndu" userId="d34c77c4f93ddfff" providerId="LiveId" clId="{C7A29AC0-0302-4F85-AE67-3A94FDE40603}" dt="2026-02-19T09:44:29.586" v="834" actId="1076"/>
        <pc:sldMkLst>
          <pc:docMk/>
          <pc:sldMk cId="2809158081" sldId="261"/>
        </pc:sldMkLst>
        <pc:spChg chg="add mod">
          <ac:chgData name="Ugochukwu Ndu" userId="d34c77c4f93ddfff" providerId="LiveId" clId="{C7A29AC0-0302-4F85-AE67-3A94FDE40603}" dt="2026-02-18T22:17:40.335" v="234" actId="255"/>
          <ac:spMkLst>
            <pc:docMk/>
            <pc:sldMk cId="2809158081" sldId="261"/>
            <ac:spMk id="3" creationId="{DBAFFDD1-7A41-F586-4E9C-7B26DB147712}"/>
          </ac:spMkLst>
        </pc:spChg>
        <pc:spChg chg="add mod">
          <ac:chgData name="Ugochukwu Ndu" userId="d34c77c4f93ddfff" providerId="LiveId" clId="{C7A29AC0-0302-4F85-AE67-3A94FDE40603}" dt="2026-02-18T22:16:41.390" v="225" actId="1076"/>
          <ac:spMkLst>
            <pc:docMk/>
            <pc:sldMk cId="2809158081" sldId="261"/>
            <ac:spMk id="4" creationId="{71CAE733-A5B5-AC79-1A8F-AB939853E7E9}"/>
          </ac:spMkLst>
        </pc:spChg>
        <pc:spChg chg="add mod">
          <ac:chgData name="Ugochukwu Ndu" userId="d34c77c4f93ddfff" providerId="LiveId" clId="{C7A29AC0-0302-4F85-AE67-3A94FDE40603}" dt="2026-02-18T22:08:35.500" v="65" actId="255"/>
          <ac:spMkLst>
            <pc:docMk/>
            <pc:sldMk cId="2809158081" sldId="261"/>
            <ac:spMk id="6" creationId="{BD48EC80-D199-79B0-0767-651AFB29811E}"/>
          </ac:spMkLst>
        </pc:spChg>
        <pc:spChg chg="add mod">
          <ac:chgData name="Ugochukwu Ndu" userId="d34c77c4f93ddfff" providerId="LiveId" clId="{C7A29AC0-0302-4F85-AE67-3A94FDE40603}" dt="2026-02-18T22:15:00.144" v="93" actId="1076"/>
          <ac:spMkLst>
            <pc:docMk/>
            <pc:sldMk cId="2809158081" sldId="261"/>
            <ac:spMk id="7" creationId="{68D08B04-1589-6666-4A38-B68555815E9F}"/>
          </ac:spMkLst>
        </pc:spChg>
        <pc:spChg chg="add mod">
          <ac:chgData name="Ugochukwu Ndu" userId="d34c77c4f93ddfff" providerId="LiveId" clId="{C7A29AC0-0302-4F85-AE67-3A94FDE40603}" dt="2026-02-18T22:17:52.377" v="236" actId="20577"/>
          <ac:spMkLst>
            <pc:docMk/>
            <pc:sldMk cId="2809158081" sldId="261"/>
            <ac:spMk id="8" creationId="{B2F60FC3-4397-908F-B775-B7C269E02883}"/>
          </ac:spMkLst>
        </pc:spChg>
        <pc:spChg chg="add mod">
          <ac:chgData name="Ugochukwu Ndu" userId="d34c77c4f93ddfff" providerId="LiveId" clId="{C7A29AC0-0302-4F85-AE67-3A94FDE40603}" dt="2026-02-18T22:16:33.321" v="223" actId="1076"/>
          <ac:spMkLst>
            <pc:docMk/>
            <pc:sldMk cId="2809158081" sldId="261"/>
            <ac:spMk id="9" creationId="{7CBF7592-B23D-AC4C-5F13-430B6ECA050B}"/>
          </ac:spMkLst>
        </pc:spChg>
        <pc:spChg chg="mod">
          <ac:chgData name="Ugochukwu Ndu" userId="d34c77c4f93ddfff" providerId="LiveId" clId="{C7A29AC0-0302-4F85-AE67-3A94FDE40603}" dt="2026-02-19T09:44:29.586" v="834" actId="1076"/>
          <ac:spMkLst>
            <pc:docMk/>
            <pc:sldMk cId="2809158081" sldId="261"/>
            <ac:spMk id="10" creationId="{189E1812-D7D0-EABE-4072-1682B7F4227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9409C-5AE0-31D4-7190-057E3420D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064B82-038D-D96A-6D37-29B2E3C38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0E5D9-B84E-B631-69A3-FEC78DBA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791C-8685-4550-8944-B6CBBD1FE307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609FF-8306-85DF-F2F8-C42508810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950B3-812F-63F9-8D42-9E90E90F4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32F-AF53-4334-9FFE-02D765DB0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0303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CBD0-989A-FBE9-D130-ADC810CEF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865A1-5378-93C8-C81A-FE89AF881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88584-DE2D-CB4B-89C7-05D5BBD0D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791C-8685-4550-8944-B6CBBD1FE307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328F6-6608-BA8F-13B2-2936BA29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00B54-09EF-B687-B2B9-53A0ACE1A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32F-AF53-4334-9FFE-02D765DB0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283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D15D3-9E10-F096-929E-0B86912C2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6F6A-99F6-3EC3-7216-871581C88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F2F14-FB5D-9481-26B3-D3036D523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791C-8685-4550-8944-B6CBBD1FE307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C419D-18A8-6FBF-D7E4-7D4354A30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63A82-B9EC-9E23-A98F-7A20D83D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32F-AF53-4334-9FFE-02D765DB0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228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7CC66-9FC7-C894-382C-291A291F2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CD4D1-64AE-E6A9-7767-C0EB757B82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D7DAA-A1D6-AF88-EDBC-B71E69E81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5927E-39F0-2C76-AE07-681A21CB9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791C-8685-4550-8944-B6CBBD1FE307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1A022C-A6D8-E947-D35B-B9EA221B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153B7-08A3-BDE9-0033-1D42D61D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32F-AF53-4334-9FFE-02D765DB0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654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A9157-AADD-675E-E304-8033F204F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70FD0-6A82-2669-BC52-48E6880D9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88C25-3DA8-E829-60B3-DC6953FCF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101CC5-D8C2-0915-D27E-57C709E80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72DFB-E4BA-2120-DA3D-AF4EF328B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EE3FE-8E78-2B30-FDE8-AC49CE57F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791C-8685-4550-8944-B6CBBD1FE307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DBBF0A-1D37-D93E-4C94-6130E96BA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84FBF-9D50-016C-9551-31D38B3AC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32F-AF53-4334-9FFE-02D765DB0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369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7C263-93E7-A40F-466B-EA1905647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64CCCF-E818-8F99-51D6-D27649820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791C-8685-4550-8944-B6CBBD1FE307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B627C-296B-432C-ACA6-E180B73E9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E2263A-E1D4-4924-3349-E6C66E3F6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32F-AF53-4334-9FFE-02D765DB0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788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DBC34B-E233-9E7D-53C7-39FEFCD6D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791C-8685-4550-8944-B6CBBD1FE307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3F4391-D06B-8528-33C9-F3C42D751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E0DFA-0027-713E-6225-9A3F83444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32F-AF53-4334-9FFE-02D765DB0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5368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393E-1639-A304-60FA-49A500C16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5E8CC-FE79-9310-2325-5989201AF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2A8CD-17E2-4713-1CFF-2B6A29FFB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9A122-F984-4BA3-000A-61196CA5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791C-8685-4550-8944-B6CBBD1FE307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78442-0F47-A3F5-F947-8E45F5EB2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2BA5F-7B55-5AD3-9BA5-F32436965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32F-AF53-4334-9FFE-02D765DB0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3611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7763F-6BE0-DFFF-CB34-93AD1D264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06606E-D287-0678-1344-0F4BD263BE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A69FB8-D752-90FA-FEC3-A426F3DA1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203DF-32C5-CFB6-391F-EA0DEE52F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791C-8685-4550-8944-B6CBBD1FE307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DF89B-CA3A-06C4-177B-9FF13E4A2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C5267-105A-4FC7-20E9-1690F3A55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32F-AF53-4334-9FFE-02D765DB0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7823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3224-4B2A-7E3A-A0AA-393E8C4A3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5CB236-D688-3361-1584-0C1FA88A8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7147B-BC44-E6B0-CB9C-D979ECB87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791C-8685-4550-8944-B6CBBD1FE307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94A98-C6F1-450D-A57E-D946865FC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91440-702A-7D4F-DE61-5457260D4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32F-AF53-4334-9FFE-02D765DB0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435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6BB6BA-49D4-BDE1-DFC3-329534833E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B0A479-D6F4-F178-7B88-C15ED9F04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C83A8-B942-E932-3B6B-D01DFE639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791C-8685-4550-8944-B6CBBD1FE307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DD95B-FADB-9BA0-ADFC-CE2B8CA2F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4E402-9572-FB25-CDEF-7423A74E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A32F-AF53-4334-9FFE-02D765DB0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004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02649D-B77E-08EB-AE4A-A60D1FC4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F1489-0287-8748-7F4A-0EA7B8971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28917-D603-6A86-6ECC-660EE9A8BA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2791C-8685-4550-8944-B6CBBD1FE307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F12D1-0D6F-043E-ECB7-5E0ACFA3A9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00078-6DFB-7026-C301-E47B0CB3B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3BA32F-AF53-4334-9FFE-02D765DB08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682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FEEA8D8-744A-4C87-5062-F96ACA12E041}"/>
              </a:ext>
            </a:extLst>
          </p:cNvPr>
          <p:cNvCxnSpPr>
            <a:cxnSpLocks/>
          </p:cNvCxnSpPr>
          <p:nvPr/>
        </p:nvCxnSpPr>
        <p:spPr>
          <a:xfrm>
            <a:off x="0" y="924076"/>
            <a:ext cx="12192000" cy="0"/>
          </a:xfrm>
          <a:prstGeom prst="line">
            <a:avLst/>
          </a:prstGeom>
          <a:ln w="41275">
            <a:solidFill>
              <a:schemeClr val="accent4">
                <a:lumMod val="50000"/>
              </a:schemeClr>
            </a:solidFill>
          </a:ln>
          <a:effectLst>
            <a:outerShdw blurRad="38100" dist="50800" dir="5400000" algn="ctr" rotWithShape="0">
              <a:schemeClr val="bg2">
                <a:lumMod val="50000"/>
              </a:schemeClr>
            </a:outerShdw>
          </a:effec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2A75C4A-E906-6E15-A315-709A0DD342E7}"/>
              </a:ext>
            </a:extLst>
          </p:cNvPr>
          <p:cNvSpPr txBox="1"/>
          <p:nvPr/>
        </p:nvSpPr>
        <p:spPr>
          <a:xfrm>
            <a:off x="323438" y="235794"/>
            <a:ext cx="9374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Context of the work</a:t>
            </a:r>
            <a:endParaRPr lang="en-GB" sz="2800" b="1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48FEDB-9858-5A30-6048-6A6AE005BB71}"/>
              </a:ext>
            </a:extLst>
          </p:cNvPr>
          <p:cNvSpPr txBox="1"/>
          <p:nvPr/>
        </p:nvSpPr>
        <p:spPr>
          <a:xfrm>
            <a:off x="752808" y="1852654"/>
            <a:ext cx="110389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Since Filterland </a:t>
            </a:r>
            <a:r>
              <a:rPr lang="en-GB" b="1" dirty="0"/>
              <a:t>began operating in e-commerce, the business has grown significantly, leading to increased demand and the need to expand the Fulfilment Centres</a:t>
            </a:r>
            <a:r>
              <a:rPr lang="en-US" b="1" dirty="0"/>
              <a:t>. These warehouses operate as demanding, high-tempo environments where some level of pressure is expected.</a:t>
            </a:r>
            <a:endParaRPr lang="en-GB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577AE6-8FB7-F831-D717-50B7AC81C119}"/>
              </a:ext>
            </a:extLst>
          </p:cNvPr>
          <p:cNvSpPr txBox="1"/>
          <p:nvPr/>
        </p:nvSpPr>
        <p:spPr>
          <a:xfrm>
            <a:off x="752808" y="2967335"/>
            <a:ext cx="11038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However, persistent operational friction can gradually erode morale, performance, and staff retention.</a:t>
            </a:r>
            <a:endParaRPr lang="en-GB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80A40D-2981-4024-28BB-0585DBE9602E}"/>
              </a:ext>
            </a:extLst>
          </p:cNvPr>
          <p:cNvSpPr txBox="1"/>
          <p:nvPr/>
        </p:nvSpPr>
        <p:spPr>
          <a:xfrm>
            <a:off x="752808" y="3666792"/>
            <a:ext cx="11038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organisation engaged the consulting group to evaluate employee feedback data, identify the friction points, the workforce segment most affected, and where an intervention would create the most leverage.</a:t>
            </a:r>
            <a:endParaRPr lang="en-GB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EE59FF-0042-FAE8-0ABA-1B9FEF6104AE}"/>
              </a:ext>
            </a:extLst>
          </p:cNvPr>
          <p:cNvSpPr txBox="1"/>
          <p:nvPr/>
        </p:nvSpPr>
        <p:spPr>
          <a:xfrm>
            <a:off x="752808" y="4643248"/>
            <a:ext cx="11038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document contains a summary of the findings, which are based on employee feedback data, stakeholder interviews, and HR operational data.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45630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00EF0-02EE-BC0A-BE54-395401B0F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977191-D25C-8528-73F5-9A7F5032A615}"/>
              </a:ext>
            </a:extLst>
          </p:cNvPr>
          <p:cNvCxnSpPr>
            <a:cxnSpLocks/>
          </p:cNvCxnSpPr>
          <p:nvPr/>
        </p:nvCxnSpPr>
        <p:spPr>
          <a:xfrm>
            <a:off x="0" y="924076"/>
            <a:ext cx="12192000" cy="0"/>
          </a:xfrm>
          <a:prstGeom prst="line">
            <a:avLst/>
          </a:prstGeom>
          <a:ln w="41275">
            <a:solidFill>
              <a:schemeClr val="accent4">
                <a:lumMod val="50000"/>
              </a:schemeClr>
            </a:solidFill>
          </a:ln>
          <a:effectLst>
            <a:outerShdw blurRad="38100" dist="50800" dir="5400000" algn="ctr" rotWithShape="0">
              <a:schemeClr val="bg2">
                <a:lumMod val="50000"/>
              </a:schemeClr>
            </a:outerShdw>
          </a:effec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26ECC50-7242-C3F4-AA4D-77430B774A41}"/>
              </a:ext>
            </a:extLst>
          </p:cNvPr>
          <p:cNvSpPr txBox="1"/>
          <p:nvPr/>
        </p:nvSpPr>
        <p:spPr>
          <a:xfrm>
            <a:off x="222720" y="268495"/>
            <a:ext cx="11969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1">
                    <a:lumMod val="50000"/>
                  </a:schemeClr>
                </a:solidFill>
              </a:rPr>
              <a:t>Operational friction is emerging across themes that directly affect workforce stability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13F986-EABD-6BC0-1182-F5169CB38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725" y="1523999"/>
            <a:ext cx="6776087" cy="44812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446468-D902-5869-52AF-48DFFBAA3D38}"/>
              </a:ext>
            </a:extLst>
          </p:cNvPr>
          <p:cNvSpPr txBox="1"/>
          <p:nvPr/>
        </p:nvSpPr>
        <p:spPr>
          <a:xfrm>
            <a:off x="8249055" y="2243849"/>
            <a:ext cx="32425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36% of the employees referenced burnout in their feedback.</a:t>
            </a:r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GB" sz="1400" b="1" dirty="0"/>
              <a:t>22% mentioned management responsiveness as a friction point.</a:t>
            </a:r>
          </a:p>
          <a:p>
            <a:endParaRPr lang="en-GB" sz="1400" b="1" dirty="0"/>
          </a:p>
          <a:p>
            <a:endParaRPr lang="en-GB" sz="1400" b="1" dirty="0"/>
          </a:p>
          <a:p>
            <a:r>
              <a:rPr lang="en-GB" sz="1400" b="1" dirty="0"/>
              <a:t>Instability appears consistently, though lower in volume.</a:t>
            </a:r>
          </a:p>
        </p:txBody>
      </p:sp>
    </p:spTree>
    <p:extLst>
      <p:ext uri="{BB962C8B-B14F-4D97-AF65-F5344CB8AC3E}">
        <p14:creationId xmlns:p14="http://schemas.microsoft.com/office/powerpoint/2010/main" val="226831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35425-08C7-0804-1377-3860F7C24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EC67F9-0343-3681-A6A5-C6EEDE1AE83A}"/>
              </a:ext>
            </a:extLst>
          </p:cNvPr>
          <p:cNvCxnSpPr>
            <a:cxnSpLocks/>
          </p:cNvCxnSpPr>
          <p:nvPr/>
        </p:nvCxnSpPr>
        <p:spPr>
          <a:xfrm>
            <a:off x="0" y="924076"/>
            <a:ext cx="12192000" cy="0"/>
          </a:xfrm>
          <a:prstGeom prst="line">
            <a:avLst/>
          </a:prstGeom>
          <a:ln w="41275">
            <a:solidFill>
              <a:schemeClr val="accent4">
                <a:lumMod val="50000"/>
              </a:schemeClr>
            </a:solidFill>
          </a:ln>
          <a:effectLst>
            <a:outerShdw blurRad="38100" dist="50800" dir="5400000" algn="ctr" rotWithShape="0">
              <a:schemeClr val="bg2">
                <a:lumMod val="50000"/>
              </a:schemeClr>
            </a:outerShdw>
          </a:effec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7450812-99A3-3F90-CB79-EF972D8783E9}"/>
              </a:ext>
            </a:extLst>
          </p:cNvPr>
          <p:cNvSpPr txBox="1"/>
          <p:nvPr/>
        </p:nvSpPr>
        <p:spPr>
          <a:xfrm>
            <a:off x="397647" y="263486"/>
            <a:ext cx="12104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1">
                    <a:lumMod val="50000"/>
                  </a:schemeClr>
                </a:solidFill>
              </a:rPr>
              <a:t>While workload is highly visible, patterns suggest instability is more destabilising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36D374-81CE-9204-2569-62BAA46B3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89" y="2028036"/>
            <a:ext cx="6170108" cy="32039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503F88-59F7-9F80-D1BE-0D00D4D0614B}"/>
              </a:ext>
            </a:extLst>
          </p:cNvPr>
          <p:cNvSpPr txBox="1"/>
          <p:nvPr/>
        </p:nvSpPr>
        <p:spPr>
          <a:xfrm>
            <a:off x="7339053" y="1940571"/>
            <a:ext cx="353833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Promotion unfairness signals long-term engagement risk.</a:t>
            </a:r>
          </a:p>
          <a:p>
            <a:r>
              <a:rPr lang="en-GB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Operational instability signals near-term morale and productivity risk. </a:t>
            </a:r>
          </a:p>
          <a:p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We are sequencing interventions accordingly.</a:t>
            </a:r>
          </a:p>
        </p:txBody>
      </p:sp>
    </p:spTree>
    <p:extLst>
      <p:ext uri="{BB962C8B-B14F-4D97-AF65-F5344CB8AC3E}">
        <p14:creationId xmlns:p14="http://schemas.microsoft.com/office/powerpoint/2010/main" val="715365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639E3-EE1E-9B44-76D2-38B93559B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07053A-4EAE-5373-9EB7-94F93975612F}"/>
              </a:ext>
            </a:extLst>
          </p:cNvPr>
          <p:cNvCxnSpPr>
            <a:cxnSpLocks/>
          </p:cNvCxnSpPr>
          <p:nvPr/>
        </p:nvCxnSpPr>
        <p:spPr>
          <a:xfrm>
            <a:off x="0" y="924076"/>
            <a:ext cx="12192000" cy="0"/>
          </a:xfrm>
          <a:prstGeom prst="line">
            <a:avLst/>
          </a:prstGeom>
          <a:ln w="41275">
            <a:solidFill>
              <a:schemeClr val="accent4">
                <a:lumMod val="50000"/>
              </a:schemeClr>
            </a:solidFill>
          </a:ln>
          <a:effectLst>
            <a:outerShdw blurRad="38100" dist="50800" dir="5400000" algn="ctr" rotWithShape="0">
              <a:schemeClr val="bg2">
                <a:lumMod val="50000"/>
              </a:schemeClr>
            </a:outerShdw>
          </a:effec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FEDA367-E13B-074D-26A6-B381FF64E397}"/>
              </a:ext>
            </a:extLst>
          </p:cNvPr>
          <p:cNvSpPr txBox="1"/>
          <p:nvPr/>
        </p:nvSpPr>
        <p:spPr>
          <a:xfrm>
            <a:off x="970102" y="277027"/>
            <a:ext cx="11476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1">
                    <a:lumMod val="50000"/>
                  </a:schemeClr>
                </a:solidFill>
              </a:rPr>
              <a:t>Regular forklift operators represent the highest leverage intervention point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8F0D56-4E70-5FE6-F992-AF4BA5A08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071799"/>
              </p:ext>
            </p:extLst>
          </p:nvPr>
        </p:nvGraphicFramePr>
        <p:xfrm>
          <a:off x="2478156" y="2279402"/>
          <a:ext cx="7235688" cy="3800744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268773">
                  <a:extLst>
                    <a:ext uri="{9D8B030D-6E8A-4147-A177-3AD203B41FA5}">
                      <a16:colId xmlns:a16="http://schemas.microsoft.com/office/drawing/2014/main" val="1245803669"/>
                    </a:ext>
                  </a:extLst>
                </a:gridCol>
                <a:gridCol w="739471">
                  <a:extLst>
                    <a:ext uri="{9D8B030D-6E8A-4147-A177-3AD203B41FA5}">
                      <a16:colId xmlns:a16="http://schemas.microsoft.com/office/drawing/2014/main" val="2737806792"/>
                    </a:ext>
                  </a:extLst>
                </a:gridCol>
                <a:gridCol w="891279">
                  <a:extLst>
                    <a:ext uri="{9D8B030D-6E8A-4147-A177-3AD203B41FA5}">
                      <a16:colId xmlns:a16="http://schemas.microsoft.com/office/drawing/2014/main" val="4142645405"/>
                    </a:ext>
                  </a:extLst>
                </a:gridCol>
                <a:gridCol w="1112055">
                  <a:extLst>
                    <a:ext uri="{9D8B030D-6E8A-4147-A177-3AD203B41FA5}">
                      <a16:colId xmlns:a16="http://schemas.microsoft.com/office/drawing/2014/main" val="1172074370"/>
                    </a:ext>
                  </a:extLst>
                </a:gridCol>
                <a:gridCol w="1112055">
                  <a:extLst>
                    <a:ext uri="{9D8B030D-6E8A-4147-A177-3AD203B41FA5}">
                      <a16:colId xmlns:a16="http://schemas.microsoft.com/office/drawing/2014/main" val="864833628"/>
                    </a:ext>
                  </a:extLst>
                </a:gridCol>
                <a:gridCol w="1112055">
                  <a:extLst>
                    <a:ext uri="{9D8B030D-6E8A-4147-A177-3AD203B41FA5}">
                      <a16:colId xmlns:a16="http://schemas.microsoft.com/office/drawing/2014/main" val="2592048803"/>
                    </a:ext>
                  </a:extLst>
                </a:gridCol>
              </a:tblGrid>
              <a:tr h="3943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Segment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Impact (1–5)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Severity (1–5)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Size (1–5)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Priority Score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Rank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927220037"/>
                  </a:ext>
                </a:extLst>
              </a:tr>
              <a:tr h="543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Regular</a:t>
                      </a:r>
                      <a:r>
                        <a:rPr lang="en-GB" sz="1400" b="1" dirty="0"/>
                        <a:t> Forklift Operators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5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4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4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80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1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397105123"/>
                  </a:ext>
                </a:extLst>
              </a:tr>
              <a:tr h="253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Regular Stowers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4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4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4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64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2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812722694"/>
                  </a:ext>
                </a:extLst>
              </a:tr>
              <a:tr h="362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Regular Warehouse Associates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4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3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4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48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3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830768388"/>
                  </a:ext>
                </a:extLst>
              </a:tr>
              <a:tr h="253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Part-Time Stowers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3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3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3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27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4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70919473"/>
                  </a:ext>
                </a:extLst>
              </a:tr>
              <a:tr h="362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Part-Time Forklift Operators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3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3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3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27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4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710055775"/>
                  </a:ext>
                </a:extLst>
              </a:tr>
              <a:tr h="253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Contract Stowers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2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2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2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5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170870345"/>
                  </a:ext>
                </a:extLst>
              </a:tr>
              <a:tr h="362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Contract Forklift Operators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2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2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2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5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153521364"/>
                  </a:ext>
                </a:extLst>
              </a:tr>
              <a:tr h="362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Contract Warehouse Associates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2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2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2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5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68296763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1F6B58D-A256-36F8-9E07-E3DC21DA2E7B}"/>
              </a:ext>
            </a:extLst>
          </p:cNvPr>
          <p:cNvSpPr txBox="1"/>
          <p:nvPr/>
        </p:nvSpPr>
        <p:spPr>
          <a:xfrm>
            <a:off x="2516587" y="1185522"/>
            <a:ext cx="71588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Regular Forklift Operators rank highest due to their operational criticality, elevated sentiment-weighted severity across instability and fairness themes, and substantial segment size</a:t>
            </a:r>
          </a:p>
        </p:txBody>
      </p:sp>
    </p:spTree>
    <p:extLst>
      <p:ext uri="{BB962C8B-B14F-4D97-AF65-F5344CB8AC3E}">
        <p14:creationId xmlns:p14="http://schemas.microsoft.com/office/powerpoint/2010/main" val="400611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D1963-A194-EA35-32B1-3AD6EDF2E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F0B4608-5EB0-79AE-70FD-41A20335D650}"/>
              </a:ext>
            </a:extLst>
          </p:cNvPr>
          <p:cNvCxnSpPr>
            <a:cxnSpLocks/>
          </p:cNvCxnSpPr>
          <p:nvPr/>
        </p:nvCxnSpPr>
        <p:spPr>
          <a:xfrm>
            <a:off x="0" y="924076"/>
            <a:ext cx="12192000" cy="0"/>
          </a:xfrm>
          <a:prstGeom prst="line">
            <a:avLst/>
          </a:prstGeom>
          <a:ln w="41275">
            <a:solidFill>
              <a:schemeClr val="accent4">
                <a:lumMod val="50000"/>
              </a:schemeClr>
            </a:solidFill>
          </a:ln>
          <a:effectLst>
            <a:outerShdw blurRad="38100" dist="50800" dir="5400000" algn="ctr" rotWithShape="0">
              <a:schemeClr val="bg2">
                <a:lumMod val="50000"/>
              </a:schemeClr>
            </a:outerShdw>
          </a:effec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9E1812-D7D0-EABE-4072-1682B7F4227B}"/>
              </a:ext>
            </a:extLst>
          </p:cNvPr>
          <p:cNvSpPr txBox="1"/>
          <p:nvPr/>
        </p:nvSpPr>
        <p:spPr>
          <a:xfrm>
            <a:off x="760759" y="355174"/>
            <a:ext cx="11492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1">
                    <a:lumMod val="50000"/>
                  </a:schemeClr>
                </a:solidFill>
              </a:rPr>
              <a:t>Recommended intervention and pilot plan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AFFDD1-7A41-F586-4E9C-7B26DB147712}"/>
              </a:ext>
            </a:extLst>
          </p:cNvPr>
          <p:cNvSpPr txBox="1"/>
          <p:nvPr/>
        </p:nvSpPr>
        <p:spPr>
          <a:xfrm>
            <a:off x="834885" y="4679734"/>
            <a:ext cx="724363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b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en-GB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pilot intervention is low-cost because it uses an existing rota system that directly addresses instability, led by team supervisors, and can be measured through the tracking system.</a:t>
            </a:r>
            <a:endParaRPr lang="en-GB" sz="12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br>
              <a:rPr lang="en-GB" dirty="0"/>
            </a:b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AE733-A5B5-AC79-1A8F-AB939853E7E9}"/>
              </a:ext>
            </a:extLst>
          </p:cNvPr>
          <p:cNvSpPr txBox="1"/>
          <p:nvPr/>
        </p:nvSpPr>
        <p:spPr>
          <a:xfrm>
            <a:off x="478775" y="1262146"/>
            <a:ext cx="9531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000000"/>
                </a:solidFill>
                <a:latin typeface="Arial" panose="020B0604020202020204" pitchFamily="34" charset="0"/>
              </a:rPr>
              <a:t>Introduce a Fixed-Rota Stability Window &amp; Transparency Log.</a:t>
            </a:r>
            <a:br>
              <a:rPr lang="en-GB" sz="1400" b="1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GB" sz="1400" dirty="0">
                <a:solidFill>
                  <a:srgbClr val="000000"/>
                </a:solidFill>
                <a:latin typeface="Arial" panose="020B0604020202020204" pitchFamily="34" charset="0"/>
              </a:rPr>
              <a:t>- Publish unit schedules 2 weeks in advance.</a:t>
            </a:r>
            <a:br>
              <a:rPr lang="en-GB" sz="14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GB" sz="1400" dirty="0">
                <a:solidFill>
                  <a:srgbClr val="000000"/>
                </a:solidFill>
                <a:latin typeface="Arial" panose="020B0604020202020204" pitchFamily="34" charset="0"/>
              </a:rPr>
              <a:t>- Any rota change within 72 hours must be logged with reason, approver, and impacted operator.</a:t>
            </a:r>
            <a:endParaRPr lang="en-GB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48EC80-D199-79B0-0767-651AFB29811E}"/>
              </a:ext>
            </a:extLst>
          </p:cNvPr>
          <p:cNvSpPr txBox="1"/>
          <p:nvPr/>
        </p:nvSpPr>
        <p:spPr>
          <a:xfrm>
            <a:off x="478775" y="2338879"/>
            <a:ext cx="9531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000000"/>
                </a:solidFill>
                <a:latin typeface="Arial" panose="020B0604020202020204" pitchFamily="34" charset="0"/>
              </a:rPr>
              <a:t>Who will lead the intervention (People)</a:t>
            </a:r>
            <a:br>
              <a:rPr lang="en-GB" sz="1400" b="1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GB" sz="1400" b="1" dirty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GB" sz="1400" dirty="0">
                <a:solidFill>
                  <a:srgbClr val="000000"/>
                </a:solidFill>
                <a:latin typeface="Arial" panose="020B0604020202020204" pitchFamily="34" charset="0"/>
              </a:rPr>
              <a:t>The shift supervisor will explain the new process in team huddles, publish the schedule, and log changes.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08B04-1589-6666-4A38-B68555815E9F}"/>
              </a:ext>
            </a:extLst>
          </p:cNvPr>
          <p:cNvSpPr txBox="1"/>
          <p:nvPr/>
        </p:nvSpPr>
        <p:spPr>
          <a:xfrm>
            <a:off x="478775" y="3200168"/>
            <a:ext cx="9531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Where and when will it be tested (Process)</a:t>
            </a:r>
            <a:br>
              <a:rPr lang="en-GB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 Pilot the intervention for 3 weeks with the team in the </a:t>
            </a:r>
            <a:r>
              <a:rPr lang="en-GB" sz="1400" dirty="0">
                <a:solidFill>
                  <a:srgbClr val="000000"/>
                </a:solidFill>
                <a:latin typeface="Arial" panose="020B0604020202020204" pitchFamily="34" charset="0"/>
              </a:rPr>
              <a:t>Nort</a:t>
            </a: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 -West.</a:t>
            </a: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F60FC3-4397-908F-B775-B7C269E02883}"/>
              </a:ext>
            </a:extLst>
          </p:cNvPr>
          <p:cNvSpPr txBox="1"/>
          <p:nvPr/>
        </p:nvSpPr>
        <p:spPr>
          <a:xfrm>
            <a:off x="478775" y="4061457"/>
            <a:ext cx="9531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do we measure impact (Measurable)</a:t>
            </a:r>
            <a:br>
              <a:rPr lang="en-GB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 Track the percentage of rota changes made less than 72 hours before shift, and the number of logged reasons</a:t>
            </a:r>
            <a:endParaRPr lang="en-GB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BF7592-B23D-AC4C-5F13-430B6ECA050B}"/>
              </a:ext>
            </a:extLst>
          </p:cNvPr>
          <p:cNvSpPr txBox="1"/>
          <p:nvPr/>
        </p:nvSpPr>
        <p:spPr>
          <a:xfrm>
            <a:off x="478775" y="4764373"/>
            <a:ext cx="9531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Does this intervention tick all the boxes?</a:t>
            </a:r>
            <a:br>
              <a:rPr lang="en-GB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 Low-cost? </a:t>
            </a: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Yes, because it uses an existing rota system.</a:t>
            </a:r>
            <a:b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 </a:t>
            </a:r>
            <a:r>
              <a:rPr lang="en-GB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High-impact? </a:t>
            </a: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Directly addresses instability.</a:t>
            </a:r>
            <a:b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 </a:t>
            </a:r>
            <a:r>
              <a:rPr lang="en-GB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Team-led? </a:t>
            </a: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Supervisors are responsible.</a:t>
            </a:r>
            <a:b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 </a:t>
            </a:r>
            <a:r>
              <a:rPr lang="en-GB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Measurable? </a:t>
            </a: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Rota change frequency log count.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80915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</TotalTime>
  <Words>527</Words>
  <Application>Microsoft Office PowerPoint</Application>
  <PresentationFormat>Widescreen</PresentationFormat>
  <Paragraphs>83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UGO</dc:creator>
  <cp:lastModifiedBy>UGO</cp:lastModifiedBy>
  <cp:revision>1</cp:revision>
  <dcterms:created xsi:type="dcterms:W3CDTF">2026-02-18T17:25:57Z</dcterms:created>
  <dcterms:modified xsi:type="dcterms:W3CDTF">2026-02-19T09:44:58Z</dcterms:modified>
</cp:coreProperties>
</file>